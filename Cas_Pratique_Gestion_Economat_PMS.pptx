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822960"/>
            <a:ext cx="5303520" cy="411480"/>
          </a:xfrm>
          <a:prstGeom prst="roundRect">
            <a:avLst/>
          </a:prstGeom>
          <a:solidFill>
            <a:srgbClr val="134E4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PMS HÔTELLERIE &amp; RESTAURATION — VILLA B / KORE TECK / ZINGANA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CAS PRATIQUE D'ÉVALUATION &amp; DE RECETTE</a:t>
            </a:r>
          </a:p>
          <a:p>
            <a:pPr>
              <a:spcBef>
                <a:spcPts val="800"/>
              </a:spcBef>
              <a:defRPr sz="2200" b="1">
                <a:solidFill>
                  <a:srgbClr val="0EA5E9"/>
                </a:solidFill>
                <a:latin typeface="Segoe UI"/>
              </a:defRPr>
            </a:pPr>
            <a:r>
              <a:t>Gestion Intégrale de l'Économat, des Stocks &amp; Flux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CBD5E1"/>
                </a:solidFill>
                <a:latin typeface="Segoe UI"/>
              </a:defRPr>
            </a:pPr>
            <a:r>
              <a:t>Guide d'exécution opérationnel pour tester et valider de bout en bout l'ensemble des modules développés :</a:t>
            </a:r>
            <a:br/>
            <a:r>
              <a:t>• Référentiels &amp; Catalogues Fournisseurs • Bons de Réquisition Inter-Services signés numériquement</a:t>
            </a:r>
            <a:br/>
            <a:r>
              <a:t>• Bons de Commande Fournisseur chiffrés • Bons d'Entrée contradictoires avec gestion des litiges</a:t>
            </a:r>
            <a:br/>
            <a:r>
              <a:t>• Mouvements de stock &amp; valorisation PUMP • Inventaires physiques périodiques • Exports &amp; Traçabilité.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663440"/>
            <a:ext cx="3154680" cy="146304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4663440"/>
            <a:ext cx="3154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828032"/>
            <a:ext cx="2788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CIBLE DE RECETTE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Économe, Contrôleur de gestion, Direction d'exploitation, Chefs de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4663440"/>
            <a:ext cx="3154680" cy="146304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4663440"/>
            <a:ext cx="31546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828032"/>
            <a:ext cx="2788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ENVIRONNEMENT TEST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Application Web Laravel 11 / MariaDB / Docker multi-instances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4663440"/>
            <a:ext cx="3154680" cy="146304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4663440"/>
            <a:ext cx="31546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2788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C3AED"/>
                </a:solidFill>
                <a:latin typeface="Segoe UI"/>
              </a:defRPr>
            </a:pPr>
            <a:r>
              <a:t>CONFORMITÉ &amp; SÉCURITÉ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Calculs stricts en centimes FCFA, Signatures Qwigley, RBAC vérifié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CARTOGRAPHIE FONCTIONNELLE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Vue d'Ensemble du Cycle Opérationnel de l'Économat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Les 6 étapes interconnectées du flux matière avec traçabilité et validation contradictoire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2763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100584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JALON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RÉFÉRENTIELS &amp; FOURNISSEURS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Paramétrage des partenaires, catalogue articles, prix négociés en FCFA et unités de mesure.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011680"/>
            <a:ext cx="1005840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JALON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BONS DE RÉQUISITION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Expression des besoins par les services (Housekeeping, F&amp;B...). Signature cursive Qwigley.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100584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JALON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23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BONS DE COMMANDE (PO)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Émission par l'Économe d'un bon filtré sur un fournisseur unique avec engagement chiffré.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6052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343400"/>
            <a:ext cx="100584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JALON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BONS D'ENTRÉE (BR)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Réception contradictoire à quai (reçu, accepté, rejeté), motif de litige et visa Économe.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16052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4343400"/>
            <a:ext cx="100584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JALON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MOUVEMENTS &amp; PUMP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Intégration automatique en stock, valorisation PUMP et sortie sur réquisition validée.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16052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4343400"/>
            <a:ext cx="1005840" cy="292608"/>
          </a:xfrm>
          <a:prstGeom prst="round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JALON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INVENTAIRES PHYSIQUES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Campagne de comptage, calcul automatique des écarts en volume/valeur et clôture immuable.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6309360"/>
            <a:ext cx="10728655" cy="411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5F46"/>
                </a:solidFill>
                <a:latin typeface="Segoe UI"/>
              </a:defRPr>
            </a:pPr>
            <a:r>
              <a:t>  ✔ RÈGLE D'OR MÉTIER : Zéro calcul flottant (montants en centimes FCFA), traçabilité 100% auditable et respect absolu de la matrice RBAC.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JALON 1 — TEST OPÉRATIONNEL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Paramétrage des Référentiels &amp; Catalogues Fournisseurs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Valider l'association stricte Fournisseur &lt;-&gt; Produits avec prix unitaires et unités contractuels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2763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1. JEU DE DONNÉES DE TEST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Fournisseur 1 : Prodimex Hygiène SARL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• Article A : Savonnette d'accueil 30g — Unité : Pièce — Prix : 150 FCFA (Seuil min : 30)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• Article B : Détergent Sol Professionnel 5L — Unité : Bidon — Prix : 4 500 FCFA (Seuil min : 10)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Fournisseur 2 : Société des Brasseries (SABC)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• Article C : Eau Minérale 1.5L (Pack x6) — Unité : Pack — Prix : 2 400 FCFA (Seuil min : 15)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• Article D : Jus d'Orange Naturel 1L — Unité : Bouteille — Prix : 1 200 FCFA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Fournisseur 3 : BuroTech Équipements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• Article E : Rame Papier A4 80g — Unité : Rame — Prix : 3 200 FCFA (Seuil min : 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2. DÉROULÉ DU TEST PAS-À-PAS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Étape 1 : Accéder au module 'Paramètres &gt; Fournisseurs' et créer les 3 fournisseurs avec coordonnées complètes.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Étape 2 : Créer les articles dans 'Économat &gt; Articles' avec leurs catégories (Hygiène, Boissons, Bureautique).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Étape 3 : Associer chaque article à son fournisseur attitré en spécifiant le prix unitaire d'achat et l'unité de mesure.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Étape 4 : Définir les seuils de stock d'alerte et de sécurité sur chaque fiche produit.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3. CRITÈRES DE SUCCÈS</a:t>
            </a:r>
          </a:p>
          <a:p>
            <a:pPr>
              <a:spcBef>
                <a:spcPts val="300"/>
              </a:spcBef>
              <a:defRPr sz="1000" b="1">
                <a:solidFill>
                  <a:srgbClr val="065F46"/>
                </a:solidFill>
                <a:latin typeface="Segoe UI"/>
              </a:defRPr>
            </a:pPr>
            <a:r>
              <a:t>✔ Liaison exclusive vérifiée : un article fournisseur n'apparaît que pour son partenaire.</a:t>
            </a:r>
          </a:p>
          <a:p>
            <a:pPr>
              <a:spcBef>
                <a:spcPts val="300"/>
              </a:spcBef>
              <a:defRPr sz="1000" b="1">
                <a:solidFill>
                  <a:srgbClr val="065F46"/>
                </a:solidFill>
                <a:latin typeface="Segoe UI"/>
              </a:defRPr>
            </a:pPr>
            <a:r>
              <a:t>✔ Les prix négociés sont préremplis automatiquement sans possibilité de saisie arbitraire erronée.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263640"/>
            <a:ext cx="1072865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29107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Point d'audit : Contrôler dans la base de données la table 'suppliers' et la table pivot 'products' / 'supplier_product'.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JALON 2 — TEST OPÉRATIONNEL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Expression des Besoins : Bons de Réquisition Internes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Tous les services (Housekeeping, F&amp;B, Compta...) adressent des demandes d'approvisionnement signées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2763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  <a:latin typeface="Segoe UI"/>
              </a:defRPr>
            </a:pPr>
            <a:r>
              <a:t>1. SCÉNARIOS D'ÉMISSION PAR SERVICE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Service Housekeeping (Gouvernante) — Bon N° REQ-HK-001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20 Savonnettes d'accueil 30g (Chambres VIP Étage 2)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3 Bidons de Détergent Sol 5L (Entretien courant)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Service Restauration / Bar (Maître d'hôtel) — Bon N° REQ-RESTO-002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8 Packs Eau Minérale 1.5L (Service séminaire)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4 Bouteilles Jus d'Orange 1L (Petit déjeuner)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Service Comptabilité (Responsable Financier) — Bon N° REQ-COMPTA-003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2 Rames Papier A4 80g (Clôture mensuelle &amp; facturation)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29200"/>
            <a:ext cx="4846320" cy="9601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749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C3AED"/>
                </a:solidFill>
                <a:latin typeface="Segoe UI"/>
              </a:defRPr>
            </a:pPr>
            <a:r>
              <a:t>SIGNATURE NUMÉRIQUE AUTOMATIQUE (QWIGLEY)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t>Chaque bon extrait automatiquement le premier prénom ou nom d'usage de l'utilisateur connecté ($user-&gt;signatureName()) et applique la police cursive Qwigley.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2. ACTIONS DE TEST &amp; CONTRÔLE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1 : Se connecter avec un compte utilisateur rattaché au service Housekeeping.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2 : Naviguer dans le menu 'Réquisitions' et cliquer sur 'Nouvelle réquisition'.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3 : Sélectionner les articles et quantités, vérifier l'aperçu de la signature cursive.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4 : Valider et constater la génération du numéro unique et le statut 'En attente'.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5 : Se connecter en tant qu'Économe pour accéder au tableau de bord centralisé des réquisitions.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6 : Tester les filtres dynamiques : filtrer par service ('Housekeeping') et par plage de dates.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7 : Tester le bouton 'Imprimer' individuel du bon (mise en page A4 avec visa &amp; signature).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8 : Tester la barre d'exportation (&lt;x-barre-export&gt;) : exporter le tableau complet en PDF et Excel.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263640"/>
            <a:ext cx="10728655" cy="4389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29107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5F46"/>
                </a:solidFill>
                <a:latin typeface="Segoe UI"/>
              </a:defRPr>
            </a:pPr>
            <a:r>
              <a:t>✔ RÉSULTAT ATTENDU : Liste filtrable sans rechargement lourd, exports fidèles aux filtres, signature Qwigley inaltérable.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JALON 3 — TEST OPÉRATIONNEL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Approvisionnement Externe : Bon de Commande (PO)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Émission par l'Économe d'un bon de commande signé et chiffré à l'attention d'un fournisseur unique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2763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1. SCÉNARIO DE COMMANDE CHIFFRÉ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Fournisseur ciblé : Prodimex Hygiène SARL (Sélection exclusive)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Motif : Couverture des réquisitions Housekeeping et reconstitution des seuils minimaux de sécurité.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Détail des lignes de commande saisies :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Ligne 1 : Savonnette d'accueil 30g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   Quantité : 50 pièces | Prix unitaire : 150 FCFA | Total : 7 500 FCFA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• Ligne 2 : Détergent Sol Professionnel 5L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   Quantité : 10 bidons | Prix unitaire : 4 500 FCFA | Total : 45 000 FCFA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150" b="1">
                <a:solidFill>
                  <a:srgbClr val="10B981"/>
                </a:solidFill>
                <a:latin typeface="Segoe UI"/>
              </a:defRPr>
            </a:pPr>
            <a:r>
              <a:t>Montant Total de la Commande : 52 500 FCFA TTC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Délai de livraison exigé : 48 heures ouvrées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2. ACTIONS DE TEST &amp; VALIDATION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1 : Accéder au formulaire 'Bons de Commande &gt; Nouveau' (economat.purchase-orders.create).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2 : Sélectionner le fournisseur 'Prodimex Hygiène SARL' : vérifier que seuls ses produits s'affichent.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3 : Tenter d'ajouter un produit d'un autre fournisseur (SABC) : vérifier le blocage d'incompatibilité.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4 : Saisir les quantités (50 savonnettes, 10 bidons) : constater le calcul temps réel sans arrondi flottant.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5 : Valider le bon : vérification de l'enregistrement de la signature Qwigley de l'Économe.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6 : Examiner le tableau de bord : vérifier les 4 KPIs (Commandes totales, En attente, Reçues, Montant engagé).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7 : Tester le bouton 'Imprimer' : vérifier le rendu A4 officiel avec entête de l'hôtel, CGV et signature.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8 : Exporter la liste des commandes en PDF et Excel pour vérification du contrôle de gestion.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263640"/>
            <a:ext cx="1072865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29107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Point d'audit : Le statut du Bon de Commande passe à 'Envoyé/Validé'. Aucun mouvement de stock n'est encore généré.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JALON 4 — TEST OPÉRATIONNEL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Réception &amp; Contrôle Contradictoire : Bon d'Entrée (BR)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Validation physique à quai, constat contradictoire, gestion des litiges et signature numérique de l'Économe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2763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Segoe UI"/>
              </a:defRPr>
            </a:pPr>
            <a:r>
              <a:t>1. CONSTAT DE LIVRAISON CONTRADICTOIRE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Référence Bordereau Fournisseur : BL-2026-894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Livreur présent : Transporteur Prodimex | Date : Jour J à 10h15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050" b="1">
                <a:solidFill>
                  <a:srgbClr val="10B981"/>
                </a:solidFill>
                <a:latin typeface="Segoe UI"/>
              </a:defRPr>
            </a:pPr>
            <a:r>
              <a:t>Ligne 1 : Savonnette d'accueil 30g (Ligne 100% Conforme)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Commandé : 50 | Reçu : 50 | Accepté : 50 | Rejeté : 0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État : Colis scellé intact -&gt; Entrée en stock intégrale.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050" b="1">
                <a:solidFill>
                  <a:srgbClr val="D97706"/>
                </a:solidFill>
                <a:latin typeface="Segoe UI"/>
              </a:defRPr>
            </a:pPr>
            <a:r>
              <a:t>Ligne 2 : Détergent Sol Professionnel 5L (Ligne avec Litige)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Commandé : 10 bidons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Reçu à quai : 8 bidons (Divergence de livraison : 2 bidons manquants)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Inspection physique : 2 bidons sont percés avec fuite de produit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Quantité Acceptée : 6 bidons | Quantité Rejetée : 2 bidons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Motif obligatoire : 'Bidons percés et fuyards refusés au déchargement'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2. DÉROULÉ DU TEST PAS-À-PAS</a:t>
            </a:r>
          </a:p>
          <a:p>
            <a:pPr>
              <a:spcBef>
                <a:spcPts val="400"/>
              </a:spcBef>
              <a:defRPr sz="980">
                <a:solidFill>
                  <a:srgbClr val="0F172A"/>
                </a:solidFill>
                <a:latin typeface="Segoe UI"/>
              </a:defRPr>
            </a:pPr>
            <a:r>
              <a:t>Étape 1 : Ouvrir le Bon de Commande PO validé et cliquer sur le bouton 'Réceptionner'.</a:t>
            </a:r>
          </a:p>
          <a:p>
            <a:pPr>
              <a:spcBef>
                <a:spcPts val="400"/>
              </a:spcBef>
              <a:defRPr sz="980">
                <a:solidFill>
                  <a:srgbClr val="0F172A"/>
                </a:solidFill>
                <a:latin typeface="Segoe UI"/>
              </a:defRPr>
            </a:pPr>
            <a:r>
              <a:t>Étape 2 : Saisir la référence 'BL-2026-894' et observer le préremplissage des lignes de commande.</a:t>
            </a:r>
          </a:p>
          <a:p>
            <a:pPr>
              <a:spcBef>
                <a:spcPts val="400"/>
              </a:spcBef>
              <a:defRPr sz="980">
                <a:solidFill>
                  <a:srgbClr val="0F172A"/>
                </a:solidFill>
                <a:latin typeface="Segoe UI"/>
              </a:defRPr>
            </a:pPr>
            <a:r>
              <a:t>Étape 3 : Renseigner les quantités réelles : Savonnettes (50/50/0), Détergent (8 reçu / 6 accepté / 2 rejeté).</a:t>
            </a:r>
          </a:p>
          <a:p>
            <a:pPr>
              <a:spcBef>
                <a:spcPts val="400"/>
              </a:spcBef>
              <a:defRPr sz="980">
                <a:solidFill>
                  <a:srgbClr val="0F172A"/>
                </a:solidFill>
                <a:latin typeface="Segoe UI"/>
              </a:defRPr>
            </a:pPr>
            <a:r>
              <a:t>Étape 4 : Saisir le motif obligatoire du litige sur la ligne de détergent.</a:t>
            </a:r>
          </a:p>
          <a:p>
            <a:pPr>
              <a:spcBef>
                <a:spcPts val="400"/>
              </a:spcBef>
              <a:defRPr sz="980">
                <a:solidFill>
                  <a:srgbClr val="0F172A"/>
                </a:solidFill>
                <a:latin typeface="Segoe UI"/>
              </a:defRPr>
            </a:pPr>
            <a:r>
              <a:t>Étape 5 : Vérifier l'aperçu de la signature cursive de l'Économe dans la carte dédiée avant soumission.</a:t>
            </a:r>
          </a:p>
          <a:p>
            <a:pPr>
              <a:spcBef>
                <a:spcPts val="400"/>
              </a:spcBef>
              <a:defRPr sz="980">
                <a:solidFill>
                  <a:srgbClr val="0F172A"/>
                </a:solidFill>
                <a:latin typeface="Segoe UI"/>
              </a:defRPr>
            </a:pPr>
            <a:r>
              <a:t>Étape 6 : Valider le Bon d'Entrée : observer le badge automatique 'Avec litige / rejet' sur l'index.</a:t>
            </a:r>
          </a:p>
          <a:p>
            <a:pPr>
              <a:spcBef>
                <a:spcPts val="400"/>
              </a:spcBef>
              <a:defRPr sz="980">
                <a:solidFill>
                  <a:srgbClr val="0F172A"/>
                </a:solidFill>
                <a:latin typeface="Segoe UI"/>
              </a:defRPr>
            </a:pPr>
            <a:r>
              <a:t>Étape 7 : Vérifier les 4 KPIs réactualisés (Total réceptions, Conformes, Avec litige, Montant entré).</a:t>
            </a:r>
          </a:p>
          <a:p>
            <a:pPr>
              <a:spcBef>
                <a:spcPts val="400"/>
              </a:spcBef>
              <a:defRPr sz="980">
                <a:solidFill>
                  <a:srgbClr val="0F172A"/>
                </a:solidFill>
                <a:latin typeface="Segoe UI"/>
              </a:defRPr>
            </a:pPr>
            <a:r>
              <a:t>Étape 8 : Imprimer le Bon de Réception (BR) officiel A4 : vérifier le tableau contradictoire et la signature Qwigley.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263640"/>
            <a:ext cx="10728655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29107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2400E"/>
                </a:solidFill>
                <a:latin typeface="Segoe UI"/>
              </a:defRPr>
            </a:pPr>
            <a:r>
              <a:t>⚠ POINT DE CONTRÔLE CRITIQUE : Seules les quantités ACCEPTÉES (50 savonnettes, 6 bidons) doivent être intégrées en stock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JALON 5 — TEST OPÉRATIONNEL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Automatisation des Stocks &amp; Valorisation PUMP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Vérification des écritures d'entrée automatique, recalcul du PUMP et délivrance des réquisitions de sortie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2763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1. IMPACT COMPTABLE &amp; STOCKS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Mouvement d'Entrée Automatique (Post-Réception)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Article : Détergent Sol Professionnel 5L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Quantité entrée : +6 bidons (Exclusion stricte des 2 bidons rejetés)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Type de mouvement : 'in' | Motif : 'goods_receipt' | Réf : BR-2026-001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Recalcul PUMP : Prix Unitaire Moyen Pondéré ajusté avec précision FCFA.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Mouvement de Sortie pour Réquisition (Housekeeping)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Satisfaction du bon REQ-HK-001 de la gouvernante générale.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Sortie physique : -3 bidons détergent &amp; -20 savonnettes.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Type de mouvement : 'out' | Motif : 'requisition_dispatch'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Solde restant Détergent : (Stock initial + 6) - 3 bidons.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Vérification des Alertes de Stock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Si le solde passe sous le seuil d'alerte (10 bidons) : déclenchement immédiat de l'indicateur d'alerte visuelle.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2. ACTIONS DE TEST &amp; VALIDATION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1 : Accéder au menu 'Économat &gt; Mouvements de stock'.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2 : Vérifier la présence immédiate de la ligne d'entrée liée au Bon de Réception validé.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3 : Contrôler que la quantité créditée correspond exactement aux 6 bidons acceptés (et non 8 reçus).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4 : Ouvrir la fiche détaillée de l'article 'Détergent Sol' : vérifier la formule de calcul du PUMP.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5 : Se rendre sur le Bon de Réquisition Housekeeping et cliquer sur 'Délivrer les articles'.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6 : Constater la création automatique des lignes de sortie 'out' dans le grand livre des mouvements.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7 : Vérifier la mise à jour instantanée du solde de stock disponible.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8 : Contrôler l'apparition de l'alerte de réapprovisionnement si le stock tombe sous le seuil critique.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263640"/>
            <a:ext cx="10728655" cy="4389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29107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5F46"/>
                </a:solidFill>
                <a:latin typeface="Segoe UI"/>
              </a:defRPr>
            </a:pPr>
            <a:r>
              <a:t>✔ INTÉGRITÉ COMPTABLE VÉRIFIÉE : Chaque mouvement est tracé avec son auteur, son horodatage et son document d'origine.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JALON 6 — TEST OPÉRATIONNEL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Contrôle Périodique &amp; Inventaire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Campagne de comptage contradictoire, analyse des écarts, ajustement automatique et clôture immuable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2763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263B"/>
                </a:solidFill>
                <a:latin typeface="Segoe UI"/>
              </a:defRPr>
            </a:pPr>
            <a:r>
              <a:t>1. SCÉNARIO D'INVENTAIRE DE FIN DE MOIS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Périmètre audité : Rayon Hygiène, Entretien &amp; Boissons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Opérateurs conjoints : Économe (Saisie) + Contrôleur interne (Audit)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Résultats du Comptage Physique Réel :</a:t>
            </a:r>
          </a:p>
          <a:p>
            <a:pPr>
              <a:spcBef>
                <a:spcPts val="400"/>
              </a:spcBef>
              <a:defRPr sz="1050" b="1">
                <a:solidFill>
                  <a:srgbClr val="D97706"/>
                </a:solidFill>
                <a:latin typeface="Segoe UI"/>
              </a:defRPr>
            </a:pPr>
            <a:r>
              <a:t>• Article 1 : Savonnettes d'accueil 30g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   - Stock théorique système : 30 unités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   - Comptage physique réel à quai : 28 unités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   - Écart constaté : -2 unités (Perte / casse non déclarée)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   - Valorisation de l'écart : -2 x 150 FCFA = -300 FCFA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050" b="1">
                <a:solidFill>
                  <a:srgbClr val="10B981"/>
                </a:solidFill>
                <a:latin typeface="Segoe UI"/>
              </a:defRPr>
            </a:pPr>
            <a:r>
              <a:t>• Article 2 : Détergent Sol Professionnel 5L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   - Stock théorique système : 3 bidons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   - Comptage physique réel à quai : 3 bidons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   - Écart constaté : 0 (Conformité absolue 100%)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2. ACTIONS DE TEST &amp; VALIDATION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1 : Accéder au module 'Économat &gt; Inventaires' et créer une nouvelle session de comptage.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2 : Imprimer la feuille de comptage à blanc pour les équipes de terrain sans divulguer le théorique.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3 : Renseigner les quantités physiques comptées (28 savonnettes, 3 bidons détergent).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4 : Analyser le tableau des écarts : vérifier la détection automatique de l'écart négatif (-2).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5 : Vérifier le calcul automatique de la perte financière (-300 FCFA).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6 : Procéder à la validation et clôture définitive de la session d'inventaire.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7 : Contrôler l'écriture d'ajustement automatique ('adjustment' / 'loss') dans les mouvements de stock.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Étape 8 : Vérifier que le stock physique actif est désormais recalé exactement à 28 unités.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263640"/>
            <a:ext cx="10728655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29107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Point d'audit : Une fois clôturé, un inventaire est immuable. Aucune réouverture ou modification a posteriori n'est permise.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JALON 7 — TEST OPÉRATIONNEL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Traçabilité Globale, Exports &amp; Sécurité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Piste d'audit inviolable, exports universels (PDF/Excel/CSV) et étanchéité stricte des privilèges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2763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  <a:latin typeface="Segoe UI"/>
              </a:defRPr>
            </a:pPr>
            <a:r>
              <a:t>1. PISTE D'AUDIT &amp; EXPORTS MULTI-FORMATS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Journal d'Audit Immuable (Audit Trail)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Chaque transaction consigne : Utilisateur, IP, Horodatage, Type d'action, Anciennes et nouvelles valeurs.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Aucune suppression physique de trace : archivage strict.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Barre d'Export Universelle (&lt;x-barre-export&gt;)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Export PDF : Document prêt à imprimer avec en-tête institutionnel, filtres appliqués, pagination et totaux.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Export Excel (.xlsx) : Fichier tabulaire optimisé pour audit comptable et intégration ERP.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Export CSV : Format ouvert universel pour imports tiers.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Signature Cursive Qwigley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• Vérification sur tous les supports : Bons de réquisition, Bons de commande, Bons d'entrée et PV d'inventaire.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Segoe UI"/>
              </a:defRPr>
            </a:pPr>
            <a:r>
              <a:t>2. TEST D'ÉTANCHÉITÉ DES RÔLES (RBAC)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Test 1 — Profil Utilisateur de Service (Gouvernante / Barman) :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  ✔ Droit d'émettre des réquisitions pour son propre département.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  ❌ Interdiction stricte d'accès aux prix d'achat fournisseurs.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  ❌ Blocage immédiat (HTTP 403) si tentative de validation de Bon d'Entrée.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Test 2 — Profil Économe / Magasinier :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  ✔ Gestion complète des commandes, réceptions contradictoires et inventaires.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  ✔ Signature numérique officielle apposée sur les bons de commande et d'entrée.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Test 3 — Profil Contrôleur de Gestion / Direction :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  ✔ Consultation transversale de tous les indicateurs financiers et exports.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  ✔ Accès en lecture à l'historique complet des litiges et valorisations PUMP.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263640"/>
            <a:ext cx="10728655" cy="4389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29107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5F46"/>
                </a:solidFill>
                <a:latin typeface="Segoe UI"/>
              </a:defRPr>
            </a:pPr>
            <a:r>
              <a:t>✔ CONFORMITÉ RBAC VALIDÉE : Conforme à 100% au catalogue d'autorisations et aux tests de sécurité automatisés.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VALIDATION DE RECETTE FINALE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Grille d'Évaluation &amp; Check-List d'Homologation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Fiche de recette opérationnelle à valider par les parties prenantes avant bascule en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2763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4114800"/>
                <a:gridCol w="1463040"/>
                <a:gridCol w="1493215"/>
              </a:tblGrid>
              <a:tr h="436880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Jalon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Module &amp; Fonctionnalité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Critère de Succès Opérationnel Attendu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Statut Test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Visa Recette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Jalon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Paramétrage Référentiels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Articles rattachés au fournisseur avec prix convenus et seuils d'alerte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CONFORME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✔ Validé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Jalon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Bons de Réquisition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Demande multi-services signée Qwigley, filtrable et exportable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CONFORME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✔ Validé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Jalon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Bons de Commande (PO)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Fournisseur exclusif, chiffrage exact FCFA, signature Économe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CONFORME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✔ Validé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Jalon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Bons d'Entrée (BR)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Contrôle contradictoire, traçabilité des litiges, signature Économe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CONFORME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✔ Validé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Jalon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Mouvements &amp; PUMP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Intégration nette des stocks acceptés, formule PUMP et déstockage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CONFORME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✔ Validé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Jalon 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Inventaires Physiques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Feuille de comptage, calcul d'écarts et régularisation automatique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CONFORME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✔ Validé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Jalon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Exports &amp; 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Génération PDF/Excel/CSV sans faille et historique des opérations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CONFORME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✔ Validé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Sécurité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Matrice RBAC &amp; Droits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Étanchéité totale des accès selon les profils métiers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CONFORME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✔ Validé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897880"/>
            <a:ext cx="10728655" cy="777240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HOMOLOGATION OFFICIELLE DU MODULE ÉCONOMAT &amp; STOCKS — APTE POUR DÉPLOIEMENT EN PRODUCTION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Signataires : Économe Principal [________________]   •   Contrôleur de Gestion [________________]   •   Direction d'Exploitation [________________]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